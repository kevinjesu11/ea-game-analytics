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ARPDAU (USD): tiers up, total down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 1–30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  <c:pt idx="4">
                    <c:v>ALL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0.5087</c:v>
                </c:pt>
                <c:pt idx="1">
                  <c:v>0.3819</c:v>
                </c:pt>
                <c:pt idx="2">
                  <c:v>0.2368</c:v>
                </c:pt>
                <c:pt idx="3">
                  <c:v>0.1587</c:v>
                </c:pt>
                <c:pt idx="4">
                  <c:v>0.3549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 1–30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  <c:pt idx="4">
                    <c:v>ALL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0.5447</c:v>
                </c:pt>
                <c:pt idx="1">
                  <c:v>0.3934</c:v>
                </c:pt>
                <c:pt idx="2">
                  <c:v>0.2565</c:v>
                </c:pt>
                <c:pt idx="3">
                  <c:v>0.1638</c:v>
                </c:pt>
                <c:pt idx="4">
                  <c:v>0.2973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$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Share of active player-days by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 1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Jan 1–30</c:v>
                  </c:pt>
                  <c:pt idx="1">
                    <c:v>Apr 1–30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0.34534158470011805</c:v>
                </c:pt>
                <c:pt idx="1">
                  <c:v>0.2099986851316823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 2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Jan 1–30</c:v>
                  </c:pt>
                  <c:pt idx="1">
                    <c:v>Apr 1–30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0.26112171576554116</c:v>
                </c:pt>
                <c:pt idx="1">
                  <c:v>0.15971385622448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Tier 3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Jan 1–30</c:v>
                  </c:pt>
                  <c:pt idx="1">
                    <c:v>Apr 1–30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0.2181789444248562</c:v>
                </c:pt>
                <c:pt idx="1">
                  <c:v>0.18126703554053525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Tier 4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Jan 1–30</c:v>
                  </c:pt>
                  <c:pt idx="1">
                    <c:v>Apr 1–30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0.17535775510948462</c:v>
                </c:pt>
                <c:pt idx="1">
                  <c:v>0.4490204231033024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Gross revenue per install, January cohorts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day 30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3.515</c:v>
                </c:pt>
                <c:pt idx="1">
                  <c:v>2.282</c:v>
                </c:pt>
                <c:pt idx="2">
                  <c:v>1.441</c:v>
                </c:pt>
                <c:pt idx="3">
                  <c:v>1.181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By day 90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7.349</c:v>
                </c:pt>
                <c:pt idx="1">
                  <c:v>4.741</c:v>
                </c:pt>
                <c:pt idx="2">
                  <c:v>3.116</c:v>
                </c:pt>
                <c:pt idx="3">
                  <c:v>2.336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30-day revenue per install vs organic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 gap vs organic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paid_social</c:v>
                  </c:pt>
                  <c:pt idx="1">
                    <c:v>paid_video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-0.09329026879627993</c:v>
                </c:pt>
                <c:pt idx="1">
                  <c:v>-0.37573627440349566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Same tier mix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paid_social</c:v>
                  </c:pt>
                  <c:pt idx="1">
                    <c:v>paid_video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-0.08135389715188285</c:v>
                </c:pt>
                <c:pt idx="1">
                  <c:v>-0.07587921488072673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5"/>
          <c:min val="-0.45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Actual churn by predicted-risk decile (D1 = highest), test 2–16 Apr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14-day churn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0.4660250801983085</c:v>
                </c:pt>
                <c:pt idx="1">
                  <c:v>0.339490569706397</c:v>
                </c:pt>
                <c:pt idx="2">
                  <c:v>0.2586039276686758</c:v>
                </c:pt>
                <c:pt idx="3">
                  <c:v>0.2022166050943029</c:v>
                </c:pt>
                <c:pt idx="4">
                  <c:v>0.1694536262881586</c:v>
                </c:pt>
                <c:pt idx="5">
                  <c:v>0.1312335958005249</c:v>
                </c:pt>
                <c:pt idx="6">
                  <c:v>0.1065525957612288</c:v>
                </c:pt>
                <c:pt idx="7">
                  <c:v>0.0742757145634843</c:v>
                </c:pt>
                <c:pt idx="8">
                  <c:v>0.0489014194050165</c:v>
                </c:pt>
                <c:pt idx="9">
                  <c:v>0.0220666861086808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Retention by install week (cells shown only when fully observed)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 1</c:v>
                </c:pt>
              </c:strCache>
            </c:strRef>
          </c:tx>
          <c:spPr>
            <a:solidFill>
              <a:srgbClr val="0F1B33"/>
            </a:solidFill>
            <a:ln w="25400" cap="flat">
              <a:solidFill>
                <a:srgbClr val="0F1B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1B33"/>
              </a:solidFill>
              <a:ln w="9525" cap="flat">
                <a:solidFill>
                  <a:srgbClr val="0F1B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29 Dec</c:v>
                  </c:pt>
                  <c:pt idx="1">
                    <c:v>5 Jan</c:v>
                  </c:pt>
                  <c:pt idx="2">
                    <c:v>12 Jan</c:v>
                  </c:pt>
                  <c:pt idx="3">
                    <c:v>19 Jan</c:v>
                  </c:pt>
                  <c:pt idx="4">
                    <c:v>26 Jan</c:v>
                  </c:pt>
                  <c:pt idx="5">
                    <c:v>2 Feb</c:v>
                  </c:pt>
                  <c:pt idx="6">
                    <c:v>9 Feb</c:v>
                  </c:pt>
                  <c:pt idx="7">
                    <c:v>16 Feb</c:v>
                  </c:pt>
                  <c:pt idx="8">
                    <c:v>23 Feb</c:v>
                  </c:pt>
                  <c:pt idx="9">
                    <c:v>2 Mar</c:v>
                  </c:pt>
                  <c:pt idx="10">
                    <c:v>9 Mar</c:v>
                  </c:pt>
                  <c:pt idx="11">
                    <c:v>16 Mar</c:v>
                  </c:pt>
                  <c:pt idx="12">
                    <c:v>23 Mar</c:v>
                  </c:pt>
                  <c:pt idx="13">
                    <c:v>30 Mar</c:v>
                  </c:pt>
                  <c:pt idx="14">
                    <c:v>6 Apr</c:v>
                  </c:pt>
                  <c:pt idx="15">
                    <c:v>13 Apr</c:v>
                  </c:pt>
                  <c:pt idx="16">
                    <c:v>20 Apr</c:v>
                  </c:pt>
                  <c:pt idx="17">
                    <c:v>27 Apr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0.45899999999999996</c:v>
                </c:pt>
                <c:pt idx="1">
                  <c:v>0.46299999999999997</c:v>
                </c:pt>
                <c:pt idx="2">
                  <c:v>0.48</c:v>
                </c:pt>
                <c:pt idx="3">
                  <c:v>0.479</c:v>
                </c:pt>
                <c:pt idx="4">
                  <c:v>0.475</c:v>
                </c:pt>
                <c:pt idx="5">
                  <c:v>0.48</c:v>
                </c:pt>
                <c:pt idx="6">
                  <c:v>0.503</c:v>
                </c:pt>
                <c:pt idx="7">
                  <c:v>0.475</c:v>
                </c:pt>
                <c:pt idx="8">
                  <c:v>0.469</c:v>
                </c:pt>
                <c:pt idx="9">
                  <c:v>0.478</c:v>
                </c:pt>
                <c:pt idx="10">
                  <c:v>0.474</c:v>
                </c:pt>
                <c:pt idx="11">
                  <c:v>0.47700000000000004</c:v>
                </c:pt>
                <c:pt idx="12">
                  <c:v>0.489</c:v>
                </c:pt>
                <c:pt idx="13">
                  <c:v>0.462</c:v>
                </c:pt>
                <c:pt idx="14">
                  <c:v>0.484</c:v>
                </c:pt>
                <c:pt idx="15">
                  <c:v>0.478</c:v>
                </c:pt>
                <c:pt idx="16">
                  <c:v>0.48200000000000004</c:v>
                </c:pt>
                <c:pt idx="17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Day 7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29 Dec</c:v>
                  </c:pt>
                  <c:pt idx="1">
                    <c:v>5 Jan</c:v>
                  </c:pt>
                  <c:pt idx="2">
                    <c:v>12 Jan</c:v>
                  </c:pt>
                  <c:pt idx="3">
                    <c:v>19 Jan</c:v>
                  </c:pt>
                  <c:pt idx="4">
                    <c:v>26 Jan</c:v>
                  </c:pt>
                  <c:pt idx="5">
                    <c:v>2 Feb</c:v>
                  </c:pt>
                  <c:pt idx="6">
                    <c:v>9 Feb</c:v>
                  </c:pt>
                  <c:pt idx="7">
                    <c:v>16 Feb</c:v>
                  </c:pt>
                  <c:pt idx="8">
                    <c:v>23 Feb</c:v>
                  </c:pt>
                  <c:pt idx="9">
                    <c:v>2 Mar</c:v>
                  </c:pt>
                  <c:pt idx="10">
                    <c:v>9 Mar</c:v>
                  </c:pt>
                  <c:pt idx="11">
                    <c:v>16 Mar</c:v>
                  </c:pt>
                  <c:pt idx="12">
                    <c:v>23 Mar</c:v>
                  </c:pt>
                  <c:pt idx="13">
                    <c:v>30 Mar</c:v>
                  </c:pt>
                  <c:pt idx="14">
                    <c:v>6 Apr</c:v>
                  </c:pt>
                  <c:pt idx="15">
                    <c:v>13 Apr</c:v>
                  </c:pt>
                  <c:pt idx="16">
                    <c:v>20 Apr</c:v>
                  </c:pt>
                  <c:pt idx="17">
                    <c:v>27 Apr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0.245</c:v>
                </c:pt>
                <c:pt idx="1">
                  <c:v>0.26899999999999996</c:v>
                </c:pt>
                <c:pt idx="2">
                  <c:v>0.262</c:v>
                </c:pt>
                <c:pt idx="3">
                  <c:v>0.245</c:v>
                </c:pt>
                <c:pt idx="4">
                  <c:v>0.263</c:v>
                </c:pt>
                <c:pt idx="5">
                  <c:v>0.271</c:v>
                </c:pt>
                <c:pt idx="6">
                  <c:v>0.252</c:v>
                </c:pt>
                <c:pt idx="7">
                  <c:v>0.23800000000000002</c:v>
                </c:pt>
                <c:pt idx="8">
                  <c:v>0.27</c:v>
                </c:pt>
                <c:pt idx="9">
                  <c:v>0.243</c:v>
                </c:pt>
                <c:pt idx="10">
                  <c:v>0.265</c:v>
                </c:pt>
                <c:pt idx="11">
                  <c:v>0.252</c:v>
                </c:pt>
                <c:pt idx="12">
                  <c:v>0.249</c:v>
                </c:pt>
                <c:pt idx="13">
                  <c:v>0.266</c:v>
                </c:pt>
                <c:pt idx="14">
                  <c:v>0.263</c:v>
                </c:pt>
                <c:pt idx="15">
                  <c:v>0.245</c:v>
                </c:pt>
                <c:pt idx="16">
                  <c:v/>
                </c:pt>
                <c:pt idx="17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Day 14</c:v>
                </c:pt>
              </c:strCache>
            </c:strRef>
          </c:tx>
          <c:spPr>
            <a:solidFill>
              <a:srgbClr val="60A5FA"/>
            </a:solidFill>
            <a:ln w="25400" cap="flat">
              <a:solidFill>
                <a:srgbClr val="60A5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0A5FA"/>
              </a:solidFill>
              <a:ln w="9525" cap="flat">
                <a:solidFill>
                  <a:srgbClr val="60A5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29 Dec</c:v>
                  </c:pt>
                  <c:pt idx="1">
                    <c:v>5 Jan</c:v>
                  </c:pt>
                  <c:pt idx="2">
                    <c:v>12 Jan</c:v>
                  </c:pt>
                  <c:pt idx="3">
                    <c:v>19 Jan</c:v>
                  </c:pt>
                  <c:pt idx="4">
                    <c:v>26 Jan</c:v>
                  </c:pt>
                  <c:pt idx="5">
                    <c:v>2 Feb</c:v>
                  </c:pt>
                  <c:pt idx="6">
                    <c:v>9 Feb</c:v>
                  </c:pt>
                  <c:pt idx="7">
                    <c:v>16 Feb</c:v>
                  </c:pt>
                  <c:pt idx="8">
                    <c:v>23 Feb</c:v>
                  </c:pt>
                  <c:pt idx="9">
                    <c:v>2 Mar</c:v>
                  </c:pt>
                  <c:pt idx="10">
                    <c:v>9 Mar</c:v>
                  </c:pt>
                  <c:pt idx="11">
                    <c:v>16 Mar</c:v>
                  </c:pt>
                  <c:pt idx="12">
                    <c:v>23 Mar</c:v>
                  </c:pt>
                  <c:pt idx="13">
                    <c:v>30 Mar</c:v>
                  </c:pt>
                  <c:pt idx="14">
                    <c:v>6 Apr</c:v>
                  </c:pt>
                  <c:pt idx="15">
                    <c:v>13 Apr</c:v>
                  </c:pt>
                  <c:pt idx="16">
                    <c:v>20 Apr</c:v>
                  </c:pt>
                  <c:pt idx="17">
                    <c:v>27 Apr</c:v>
                  </c:pt>
                </c:lvl>
              </c:multiLvlStrCache>
            </c:multiLvl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0.19</c:v>
                </c:pt>
                <c:pt idx="1">
                  <c:v>0.193</c:v>
                </c:pt>
                <c:pt idx="2">
                  <c:v>0.2</c:v>
                </c:pt>
                <c:pt idx="3">
                  <c:v>0.18600000000000003</c:v>
                </c:pt>
                <c:pt idx="4">
                  <c:v>0.21600000000000003</c:v>
                </c:pt>
                <c:pt idx="5">
                  <c:v>0.212</c:v>
                </c:pt>
                <c:pt idx="6">
                  <c:v>0.19699999999999998</c:v>
                </c:pt>
                <c:pt idx="7">
                  <c:v>0.198</c:v>
                </c:pt>
                <c:pt idx="8">
                  <c:v>0.193</c:v>
                </c:pt>
                <c:pt idx="9">
                  <c:v>0.19899999999999998</c:v>
                </c:pt>
                <c:pt idx="10">
                  <c:v>0.19699999999999998</c:v>
                </c:pt>
                <c:pt idx="11">
                  <c:v>0.192</c:v>
                </c:pt>
                <c:pt idx="12">
                  <c:v>0.20199999999999999</c:v>
                </c:pt>
                <c:pt idx="13">
                  <c:v>0.19399999999999998</c:v>
                </c:pt>
                <c:pt idx="14">
                  <c:v>0.192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Day 30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29 Dec</c:v>
                  </c:pt>
                  <c:pt idx="1">
                    <c:v>5 Jan</c:v>
                  </c:pt>
                  <c:pt idx="2">
                    <c:v>12 Jan</c:v>
                  </c:pt>
                  <c:pt idx="3">
                    <c:v>19 Jan</c:v>
                  </c:pt>
                  <c:pt idx="4">
                    <c:v>26 Jan</c:v>
                  </c:pt>
                  <c:pt idx="5">
                    <c:v>2 Feb</c:v>
                  </c:pt>
                  <c:pt idx="6">
                    <c:v>9 Feb</c:v>
                  </c:pt>
                  <c:pt idx="7">
                    <c:v>16 Feb</c:v>
                  </c:pt>
                  <c:pt idx="8">
                    <c:v>23 Feb</c:v>
                  </c:pt>
                  <c:pt idx="9">
                    <c:v>2 Mar</c:v>
                  </c:pt>
                  <c:pt idx="10">
                    <c:v>9 Mar</c:v>
                  </c:pt>
                  <c:pt idx="11">
                    <c:v>16 Mar</c:v>
                  </c:pt>
                  <c:pt idx="12">
                    <c:v>23 Mar</c:v>
                  </c:pt>
                  <c:pt idx="13">
                    <c:v>30 Mar</c:v>
                  </c:pt>
                  <c:pt idx="14">
                    <c:v>6 Apr</c:v>
                  </c:pt>
                  <c:pt idx="15">
                    <c:v>13 Apr</c:v>
                  </c:pt>
                  <c:pt idx="16">
                    <c:v>20 Apr</c:v>
                  </c:pt>
                  <c:pt idx="17">
                    <c:v>27 Apr</c:v>
                  </c:pt>
                </c:lvl>
              </c:multiLvlStrCache>
            </c:multiLvl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0.13</c:v>
                </c:pt>
                <c:pt idx="1">
                  <c:v>0.13699999999999998</c:v>
                </c:pt>
                <c:pt idx="2">
                  <c:v>0.153</c:v>
                </c:pt>
                <c:pt idx="3">
                  <c:v>0.13</c:v>
                </c:pt>
                <c:pt idx="4">
                  <c:v>0.147</c:v>
                </c:pt>
                <c:pt idx="5">
                  <c:v>0.15</c:v>
                </c:pt>
                <c:pt idx="6">
                  <c:v>0.14800000000000002</c:v>
                </c:pt>
                <c:pt idx="7">
                  <c:v>0.15</c:v>
                </c:pt>
                <c:pt idx="8">
                  <c:v>0.145</c:v>
                </c:pt>
                <c:pt idx="9">
                  <c:v>0.138</c:v>
                </c:pt>
                <c:pt idx="10">
                  <c:v>0.136</c:v>
                </c:pt>
                <c:pt idx="11">
                  <c:v>0.139</c:v>
                </c:pt>
                <c:pt idx="12">
                  <c:v>0.146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Average DAU per week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Android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29 Dec</c:v>
                  </c:pt>
                  <c:pt idx="1">
                    <c:v>05 Jan</c:v>
                  </c:pt>
                  <c:pt idx="2">
                    <c:v>12 Jan</c:v>
                  </c:pt>
                  <c:pt idx="3">
                    <c:v>19 Jan</c:v>
                  </c:pt>
                  <c:pt idx="4">
                    <c:v>26 Jan</c:v>
                  </c:pt>
                  <c:pt idx="5">
                    <c:v>02 Feb</c:v>
                  </c:pt>
                  <c:pt idx="6">
                    <c:v>09 Feb</c:v>
                  </c:pt>
                  <c:pt idx="7">
                    <c:v>16 Feb</c:v>
                  </c:pt>
                  <c:pt idx="8">
                    <c:v>23 Feb</c:v>
                  </c:pt>
                  <c:pt idx="9">
                    <c:v>02 Mar</c:v>
                  </c:pt>
                  <c:pt idx="10">
                    <c:v>09 Mar</c:v>
                  </c:pt>
                  <c:pt idx="11">
                    <c:v>16 Mar</c:v>
                  </c:pt>
                  <c:pt idx="12">
                    <c:v>23 Mar</c:v>
                  </c:pt>
                  <c:pt idx="13">
                    <c:v>30 Mar</c:v>
                  </c:pt>
                  <c:pt idx="14">
                    <c:v>06 Apr</c:v>
                  </c:pt>
                  <c:pt idx="15">
                    <c:v>13 Apr</c:v>
                  </c:pt>
                  <c:pt idx="16">
                    <c:v>20 Apr</c:v>
                  </c:pt>
                  <c:pt idx="17">
                    <c:v>27 Apr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1233</c:v>
                </c:pt>
                <c:pt idx="1">
                  <c:v>1496</c:v>
                </c:pt>
                <c:pt idx="2">
                  <c:v>1780</c:v>
                </c:pt>
                <c:pt idx="3">
                  <c:v>1991</c:v>
                </c:pt>
                <c:pt idx="4">
                  <c:v>2155</c:v>
                </c:pt>
                <c:pt idx="5">
                  <c:v>2341</c:v>
                </c:pt>
                <c:pt idx="6">
                  <c:v>2505</c:v>
                </c:pt>
                <c:pt idx="7">
                  <c:v>2639</c:v>
                </c:pt>
                <c:pt idx="8">
                  <c:v>2893</c:v>
                </c:pt>
                <c:pt idx="9">
                  <c:v>3248</c:v>
                </c:pt>
                <c:pt idx="10">
                  <c:v>3678</c:v>
                </c:pt>
                <c:pt idx="11">
                  <c:v>4190</c:v>
                </c:pt>
                <c:pt idx="12">
                  <c:v>4781</c:v>
                </c:pt>
                <c:pt idx="13">
                  <c:v>5431</c:v>
                </c:pt>
                <c:pt idx="14">
                  <c:v>6137</c:v>
                </c:pt>
                <c:pt idx="15">
                  <c:v>6915</c:v>
                </c:pt>
                <c:pt idx="16">
                  <c:v>7549</c:v>
                </c:pt>
                <c:pt idx="17">
                  <c:v>8099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29 Dec</c:v>
                  </c:pt>
                  <c:pt idx="1">
                    <c:v>05 Jan</c:v>
                  </c:pt>
                  <c:pt idx="2">
                    <c:v>12 Jan</c:v>
                  </c:pt>
                  <c:pt idx="3">
                    <c:v>19 Jan</c:v>
                  </c:pt>
                  <c:pt idx="4">
                    <c:v>26 Jan</c:v>
                  </c:pt>
                  <c:pt idx="5">
                    <c:v>02 Feb</c:v>
                  </c:pt>
                  <c:pt idx="6">
                    <c:v>09 Feb</c:v>
                  </c:pt>
                  <c:pt idx="7">
                    <c:v>16 Feb</c:v>
                  </c:pt>
                  <c:pt idx="8">
                    <c:v>23 Feb</c:v>
                  </c:pt>
                  <c:pt idx="9">
                    <c:v>02 Mar</c:v>
                  </c:pt>
                  <c:pt idx="10">
                    <c:v>09 Mar</c:v>
                  </c:pt>
                  <c:pt idx="11">
                    <c:v>16 Mar</c:v>
                  </c:pt>
                  <c:pt idx="12">
                    <c:v>23 Mar</c:v>
                  </c:pt>
                  <c:pt idx="13">
                    <c:v>30 Mar</c:v>
                  </c:pt>
                  <c:pt idx="14">
                    <c:v>06 Apr</c:v>
                  </c:pt>
                  <c:pt idx="15">
                    <c:v>13 Apr</c:v>
                  </c:pt>
                  <c:pt idx="16">
                    <c:v>20 Apr</c:v>
                  </c:pt>
                  <c:pt idx="17">
                    <c:v>27 Apr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700</c:v>
                </c:pt>
                <c:pt idx="1">
                  <c:v>856</c:v>
                </c:pt>
                <c:pt idx="2">
                  <c:v>1008</c:v>
                </c:pt>
                <c:pt idx="3">
                  <c:v>1116</c:v>
                </c:pt>
                <c:pt idx="4">
                  <c:v>1234</c:v>
                </c:pt>
                <c:pt idx="5">
                  <c:v>1353</c:v>
                </c:pt>
                <c:pt idx="6">
                  <c:v>1470</c:v>
                </c:pt>
                <c:pt idx="7">
                  <c:v>1528</c:v>
                </c:pt>
                <c:pt idx="8">
                  <c:v>1633</c:v>
                </c:pt>
                <c:pt idx="9">
                  <c:v>1724</c:v>
                </c:pt>
                <c:pt idx="10">
                  <c:v>1874</c:v>
                </c:pt>
                <c:pt idx="11">
                  <c:v>1984</c:v>
                </c:pt>
                <c:pt idx="12">
                  <c:v>2142</c:v>
                </c:pt>
                <c:pt idx="13">
                  <c:v>2231</c:v>
                </c:pt>
                <c:pt idx="14">
                  <c:v>2441</c:v>
                </c:pt>
                <c:pt idx="15">
                  <c:v>2617</c:v>
                </c:pt>
                <c:pt idx="16">
                  <c:v>2720</c:v>
                </c:pt>
                <c:pt idx="17">
                  <c:v>2844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ARPDAU (USD), weekly (sales every ~15 days cause the swings)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Android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29 Dec</c:v>
                  </c:pt>
                  <c:pt idx="1">
                    <c:v>05 Jan</c:v>
                  </c:pt>
                  <c:pt idx="2">
                    <c:v>12 Jan</c:v>
                  </c:pt>
                  <c:pt idx="3">
                    <c:v>19 Jan</c:v>
                  </c:pt>
                  <c:pt idx="4">
                    <c:v>26 Jan</c:v>
                  </c:pt>
                  <c:pt idx="5">
                    <c:v>02 Feb</c:v>
                  </c:pt>
                  <c:pt idx="6">
                    <c:v>09 Feb</c:v>
                  </c:pt>
                  <c:pt idx="7">
                    <c:v>16 Feb</c:v>
                  </c:pt>
                  <c:pt idx="8">
                    <c:v>23 Feb</c:v>
                  </c:pt>
                  <c:pt idx="9">
                    <c:v>02 Mar</c:v>
                  </c:pt>
                  <c:pt idx="10">
                    <c:v>09 Mar</c:v>
                  </c:pt>
                  <c:pt idx="11">
                    <c:v>16 Mar</c:v>
                  </c:pt>
                  <c:pt idx="12">
                    <c:v>23 Mar</c:v>
                  </c:pt>
                  <c:pt idx="13">
                    <c:v>30 Mar</c:v>
                  </c:pt>
                  <c:pt idx="14">
                    <c:v>06 Apr</c:v>
                  </c:pt>
                  <c:pt idx="15">
                    <c:v>13 Apr</c:v>
                  </c:pt>
                  <c:pt idx="16">
                    <c:v>20 Apr</c:v>
                  </c:pt>
                  <c:pt idx="17">
                    <c:v>27 Apr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0.249</c:v>
                </c:pt>
                <c:pt idx="1">
                  <c:v>0.416</c:v>
                </c:pt>
                <c:pt idx="2">
                  <c:v>0.223</c:v>
                </c:pt>
                <c:pt idx="3">
                  <c:v>0.283</c:v>
                </c:pt>
                <c:pt idx="4">
                  <c:v>0.255</c:v>
                </c:pt>
                <c:pt idx="5">
                  <c:v>0.335</c:v>
                </c:pt>
                <c:pt idx="6">
                  <c:v>0.259</c:v>
                </c:pt>
                <c:pt idx="7">
                  <c:v>0.255</c:v>
                </c:pt>
                <c:pt idx="8">
                  <c:v>0.262</c:v>
                </c:pt>
                <c:pt idx="9">
                  <c:v>0.138</c:v>
                </c:pt>
                <c:pt idx="10">
                  <c:v>0.341</c:v>
                </c:pt>
                <c:pt idx="11">
                  <c:v>0.167</c:v>
                </c:pt>
                <c:pt idx="12">
                  <c:v>0.312</c:v>
                </c:pt>
                <c:pt idx="13">
                  <c:v>0.181</c:v>
                </c:pt>
                <c:pt idx="14">
                  <c:v>0.27</c:v>
                </c:pt>
                <c:pt idx="15">
                  <c:v>0.215</c:v>
                </c:pt>
                <c:pt idx="16">
                  <c:v>0.291</c:v>
                </c:pt>
                <c:pt idx="17">
                  <c:v>0.182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29 Dec</c:v>
                  </c:pt>
                  <c:pt idx="1">
                    <c:v>05 Jan</c:v>
                  </c:pt>
                  <c:pt idx="2">
                    <c:v>12 Jan</c:v>
                  </c:pt>
                  <c:pt idx="3">
                    <c:v>19 Jan</c:v>
                  </c:pt>
                  <c:pt idx="4">
                    <c:v>26 Jan</c:v>
                  </c:pt>
                  <c:pt idx="5">
                    <c:v>02 Feb</c:v>
                  </c:pt>
                  <c:pt idx="6">
                    <c:v>09 Feb</c:v>
                  </c:pt>
                  <c:pt idx="7">
                    <c:v>16 Feb</c:v>
                  </c:pt>
                  <c:pt idx="8">
                    <c:v>23 Feb</c:v>
                  </c:pt>
                  <c:pt idx="9">
                    <c:v>02 Mar</c:v>
                  </c:pt>
                  <c:pt idx="10">
                    <c:v>09 Mar</c:v>
                  </c:pt>
                  <c:pt idx="11">
                    <c:v>16 Mar</c:v>
                  </c:pt>
                  <c:pt idx="12">
                    <c:v>23 Mar</c:v>
                  </c:pt>
                  <c:pt idx="13">
                    <c:v>30 Mar</c:v>
                  </c:pt>
                  <c:pt idx="14">
                    <c:v>06 Apr</c:v>
                  </c:pt>
                  <c:pt idx="15">
                    <c:v>13 Apr</c:v>
                  </c:pt>
                  <c:pt idx="16">
                    <c:v>20 Apr</c:v>
                  </c:pt>
                  <c:pt idx="17">
                    <c:v>27 Apr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0.391</c:v>
                </c:pt>
                <c:pt idx="1">
                  <c:v>0.631</c:v>
                </c:pt>
                <c:pt idx="2">
                  <c:v>0.416</c:v>
                </c:pt>
                <c:pt idx="3">
                  <c:v>0.522</c:v>
                </c:pt>
                <c:pt idx="4">
                  <c:v>0.373</c:v>
                </c:pt>
                <c:pt idx="5">
                  <c:v>0.706</c:v>
                </c:pt>
                <c:pt idx="6">
                  <c:v>0.415</c:v>
                </c:pt>
                <c:pt idx="7">
                  <c:v>0.461</c:v>
                </c:pt>
                <c:pt idx="8">
                  <c:v>0.56</c:v>
                </c:pt>
                <c:pt idx="9">
                  <c:v>0.336</c:v>
                </c:pt>
                <c:pt idx="10">
                  <c:v>0.763</c:v>
                </c:pt>
                <c:pt idx="11">
                  <c:v>0.395</c:v>
                </c:pt>
                <c:pt idx="12">
                  <c:v>0.568</c:v>
                </c:pt>
                <c:pt idx="13">
                  <c:v>0.383</c:v>
                </c:pt>
                <c:pt idx="14">
                  <c:v>0.524</c:v>
                </c:pt>
                <c:pt idx="15">
                  <c:v>0.423</c:v>
                </c:pt>
                <c:pt idx="16">
                  <c:v>0.58</c:v>
                </c:pt>
                <c:pt idx="17">
                  <c:v>0.42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$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Days from install to first purchase (payers, n=6,546)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payers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day 0</c:v>
                  </c:pt>
                  <c:pt idx="1">
                    <c:v>day 1</c:v>
                  </c:pt>
                  <c:pt idx="2">
                    <c:v>day 2-3</c:v>
                  </c:pt>
                  <c:pt idx="3">
                    <c:v>day 4-7</c:v>
                  </c:pt>
                  <c:pt idx="4">
                    <c:v>day 8-14</c:v>
                  </c:pt>
                  <c:pt idx="5">
                    <c:v>day 15-30</c:v>
                  </c:pt>
                  <c:pt idx="6">
                    <c:v>day 31+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0.06034219370608005</c:v>
                </c:pt>
                <c:pt idx="1">
                  <c:v>0.04552398411243507</c:v>
                </c:pt>
                <c:pt idx="2">
                  <c:v>0.06782768102658111</c:v>
                </c:pt>
                <c:pt idx="3">
                  <c:v>0.11854567674915979</c:v>
                </c:pt>
                <c:pt idx="4">
                  <c:v>0.14344637946837763</c:v>
                </c:pt>
                <c:pt idx="5">
                  <c:v>0.22930033608310418</c:v>
                </c:pt>
                <c:pt idx="6">
                  <c:v>0.33501374885426216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Completed rewarded-ad views per local 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 views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01 Jan</c:v>
                  </c:pt>
                  <c:pt idx="1">
                    <c:v>02 Jan</c:v>
                  </c:pt>
                  <c:pt idx="2">
                    <c:v>03 Jan</c:v>
                  </c:pt>
                  <c:pt idx="3">
                    <c:v>04 Jan</c:v>
                  </c:pt>
                  <c:pt idx="4">
                    <c:v>05 Jan</c:v>
                  </c:pt>
                  <c:pt idx="5">
                    <c:v>06 Jan</c:v>
                  </c:pt>
                  <c:pt idx="6">
                    <c:v>07 Jan</c:v>
                  </c:pt>
                  <c:pt idx="7">
                    <c:v>08 Jan</c:v>
                  </c:pt>
                  <c:pt idx="8">
                    <c:v>09 Jan</c:v>
                  </c:pt>
                  <c:pt idx="9">
                    <c:v>10 Jan</c:v>
                  </c:pt>
                  <c:pt idx="10">
                    <c:v>11 Jan</c:v>
                  </c:pt>
                  <c:pt idx="11">
                    <c:v>12 Jan</c:v>
                  </c:pt>
                  <c:pt idx="12">
                    <c:v>13 Jan</c:v>
                  </c:pt>
                  <c:pt idx="13">
                    <c:v>14 Jan</c:v>
                  </c:pt>
                  <c:pt idx="14">
                    <c:v>15 Jan</c:v>
                  </c:pt>
                  <c:pt idx="15">
                    <c:v>16 Jan</c:v>
                  </c:pt>
                  <c:pt idx="16">
                    <c:v>17 Jan</c:v>
                  </c:pt>
                  <c:pt idx="17">
                    <c:v>18 Jan</c:v>
                  </c:pt>
                  <c:pt idx="18">
                    <c:v>19 Jan</c:v>
                  </c:pt>
                  <c:pt idx="19">
                    <c:v>20 Jan</c:v>
                  </c:pt>
                  <c:pt idx="20">
                    <c:v>21 Jan</c:v>
                  </c:pt>
                  <c:pt idx="21">
                    <c:v>22 Jan</c:v>
                  </c:pt>
                  <c:pt idx="22">
                    <c:v>23 Jan</c:v>
                  </c:pt>
                  <c:pt idx="23">
                    <c:v>24 Jan</c:v>
                  </c:pt>
                  <c:pt idx="24">
                    <c:v>25 Jan</c:v>
                  </c:pt>
                  <c:pt idx="25">
                    <c:v>26 Jan</c:v>
                  </c:pt>
                  <c:pt idx="26">
                    <c:v>27 Jan</c:v>
                  </c:pt>
                  <c:pt idx="27">
                    <c:v>28 Jan</c:v>
                  </c:pt>
                  <c:pt idx="28">
                    <c:v>29 Jan</c:v>
                  </c:pt>
                  <c:pt idx="29">
                    <c:v>30 Jan</c:v>
                  </c:pt>
                  <c:pt idx="30">
                    <c:v>31 Jan</c:v>
                  </c:pt>
                  <c:pt idx="31">
                    <c:v>01 Feb</c:v>
                  </c:pt>
                  <c:pt idx="32">
                    <c:v>02 Feb</c:v>
                  </c:pt>
                  <c:pt idx="33">
                    <c:v>03 Feb</c:v>
                  </c:pt>
                  <c:pt idx="34">
                    <c:v>04 Feb</c:v>
                  </c:pt>
                  <c:pt idx="35">
                    <c:v>05 Feb</c:v>
                  </c:pt>
                  <c:pt idx="36">
                    <c:v>06 Feb</c:v>
                  </c:pt>
                  <c:pt idx="37">
                    <c:v>07 Feb</c:v>
                  </c:pt>
                  <c:pt idx="38">
                    <c:v>08 Feb</c:v>
                  </c:pt>
                  <c:pt idx="39">
                    <c:v>09 Feb</c:v>
                  </c:pt>
                  <c:pt idx="40">
                    <c:v>10 Feb</c:v>
                  </c:pt>
                  <c:pt idx="41">
                    <c:v>11 Feb</c:v>
                  </c:pt>
                  <c:pt idx="42">
                    <c:v>12 Feb</c:v>
                  </c:pt>
                  <c:pt idx="43">
                    <c:v>13 Feb</c:v>
                  </c:pt>
                  <c:pt idx="44">
                    <c:v>14 Feb</c:v>
                  </c:pt>
                  <c:pt idx="45">
                    <c:v>15 Feb</c:v>
                  </c:pt>
                  <c:pt idx="46">
                    <c:v>16 Feb</c:v>
                  </c:pt>
                  <c:pt idx="47">
                    <c:v>17 Feb</c:v>
                  </c:pt>
                  <c:pt idx="48">
                    <c:v>18 Feb</c:v>
                  </c:pt>
                  <c:pt idx="49">
                    <c:v>19 Feb</c:v>
                  </c:pt>
                  <c:pt idx="50">
                    <c:v>20 Feb</c:v>
                  </c:pt>
                  <c:pt idx="51">
                    <c:v>21 Feb</c:v>
                  </c:pt>
                  <c:pt idx="52">
                    <c:v>22 Feb</c:v>
                  </c:pt>
                  <c:pt idx="53">
                    <c:v>23 Feb</c:v>
                  </c:pt>
                  <c:pt idx="54">
                    <c:v>24 Feb</c:v>
                  </c:pt>
                  <c:pt idx="55">
                    <c:v>25 Feb</c:v>
                  </c:pt>
                  <c:pt idx="56">
                    <c:v>26 Feb</c:v>
                  </c:pt>
                  <c:pt idx="57">
                    <c:v>27 Feb</c:v>
                  </c:pt>
                  <c:pt idx="58">
                    <c:v>28 Feb</c:v>
                  </c:pt>
                  <c:pt idx="59">
                    <c:v>01 Mar</c:v>
                  </c:pt>
                  <c:pt idx="60">
                    <c:v>02 Mar</c:v>
                  </c:pt>
                  <c:pt idx="61">
                    <c:v>03 Mar</c:v>
                  </c:pt>
                  <c:pt idx="62">
                    <c:v>04 Mar</c:v>
                  </c:pt>
                  <c:pt idx="63">
                    <c:v>05 Mar</c:v>
                  </c:pt>
                  <c:pt idx="64">
                    <c:v>06 Mar</c:v>
                  </c:pt>
                  <c:pt idx="65">
                    <c:v>07 Mar</c:v>
                  </c:pt>
                  <c:pt idx="66">
                    <c:v>08 Mar</c:v>
                  </c:pt>
                  <c:pt idx="67">
                    <c:v>09 Mar</c:v>
                  </c:pt>
                  <c:pt idx="68">
                    <c:v>10 Mar</c:v>
                  </c:pt>
                  <c:pt idx="69">
                    <c:v>11 Mar</c:v>
                  </c:pt>
                  <c:pt idx="70">
                    <c:v>12 Mar</c:v>
                  </c:pt>
                  <c:pt idx="71">
                    <c:v>13 Mar</c:v>
                  </c:pt>
                  <c:pt idx="72">
                    <c:v>14 Mar</c:v>
                  </c:pt>
                  <c:pt idx="73">
                    <c:v>15 Mar</c:v>
                  </c:pt>
                  <c:pt idx="74">
                    <c:v>16 Mar</c:v>
                  </c:pt>
                  <c:pt idx="75">
                    <c:v>17 Mar</c:v>
                  </c:pt>
                  <c:pt idx="76">
                    <c:v>18 Mar</c:v>
                  </c:pt>
                  <c:pt idx="77">
                    <c:v>19 Mar</c:v>
                  </c:pt>
                  <c:pt idx="78">
                    <c:v>20 Mar</c:v>
                  </c:pt>
                  <c:pt idx="79">
                    <c:v>21 Mar</c:v>
                  </c:pt>
                  <c:pt idx="80">
                    <c:v>22 Mar</c:v>
                  </c:pt>
                  <c:pt idx="81">
                    <c:v>23 Mar</c:v>
                  </c:pt>
                  <c:pt idx="82">
                    <c:v>24 Mar</c:v>
                  </c:pt>
                  <c:pt idx="83">
                    <c:v>25 Mar</c:v>
                  </c:pt>
                  <c:pt idx="84">
                    <c:v>26 Mar</c:v>
                  </c:pt>
                  <c:pt idx="85">
                    <c:v>27 Mar</c:v>
                  </c:pt>
                  <c:pt idx="86">
                    <c:v>28 Mar</c:v>
                  </c:pt>
                  <c:pt idx="87">
                    <c:v>29 Mar</c:v>
                  </c:pt>
                  <c:pt idx="88">
                    <c:v>30 Mar</c:v>
                  </c:pt>
                  <c:pt idx="89">
                    <c:v>31 Mar</c:v>
                  </c:pt>
                  <c:pt idx="90">
                    <c:v>01 Apr</c:v>
                  </c:pt>
                  <c:pt idx="91">
                    <c:v>02 Apr</c:v>
                  </c:pt>
                  <c:pt idx="92">
                    <c:v>03 Apr</c:v>
                  </c:pt>
                  <c:pt idx="93">
                    <c:v>04 Apr</c:v>
                  </c:pt>
                  <c:pt idx="94">
                    <c:v>05 Apr</c:v>
                  </c:pt>
                  <c:pt idx="95">
                    <c:v>06 Apr</c:v>
                  </c:pt>
                  <c:pt idx="96">
                    <c:v>07 Apr</c:v>
                  </c:pt>
                  <c:pt idx="97">
                    <c:v>08 Apr</c:v>
                  </c:pt>
                  <c:pt idx="98">
                    <c:v>09 Apr</c:v>
                  </c:pt>
                  <c:pt idx="99">
                    <c:v>10 Apr</c:v>
                  </c:pt>
                  <c:pt idx="100">
                    <c:v>11 Apr</c:v>
                  </c:pt>
                  <c:pt idx="101">
                    <c:v>12 Apr</c:v>
                  </c:pt>
                  <c:pt idx="102">
                    <c:v>13 Apr</c:v>
                  </c:pt>
                  <c:pt idx="103">
                    <c:v>14 Apr</c:v>
                  </c:pt>
                  <c:pt idx="104">
                    <c:v>15 Apr</c:v>
                  </c:pt>
                  <c:pt idx="105">
                    <c:v>16 Apr</c:v>
                  </c:pt>
                  <c:pt idx="106">
                    <c:v>17 Apr</c:v>
                  </c:pt>
                  <c:pt idx="107">
                    <c:v>18 Apr</c:v>
                  </c:pt>
                  <c:pt idx="108">
                    <c:v>19 Apr</c:v>
                  </c:pt>
                  <c:pt idx="109">
                    <c:v>20 Apr</c:v>
                  </c:pt>
                  <c:pt idx="110">
                    <c:v>21 Apr</c:v>
                  </c:pt>
                  <c:pt idx="111">
                    <c:v>22 Apr</c:v>
                  </c:pt>
                  <c:pt idx="112">
                    <c:v>23 Apr</c:v>
                  </c:pt>
                  <c:pt idx="113">
                    <c:v>24 Apr</c:v>
                  </c:pt>
                  <c:pt idx="114">
                    <c:v>25 Apr</c:v>
                  </c:pt>
                  <c:pt idx="115">
                    <c:v>26 Apr</c:v>
                  </c:pt>
                  <c:pt idx="116">
                    <c:v>27 Apr</c:v>
                  </c:pt>
                  <c:pt idx="117">
                    <c:v>28 Apr</c:v>
                  </c:pt>
                  <c:pt idx="118">
                    <c:v>29 Apr</c:v>
                  </c:pt>
                  <c:pt idx="119">
                    <c:v>30 Apr</c:v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1292</c:v>
                </c:pt>
                <c:pt idx="1">
                  <c:v>1514</c:v>
                </c:pt>
                <c:pt idx="2">
                  <c:v>1520</c:v>
                </c:pt>
                <c:pt idx="3">
                  <c:v>1504</c:v>
                </c:pt>
                <c:pt idx="4">
                  <c:v>1562</c:v>
                </c:pt>
                <c:pt idx="5">
                  <c:v>1601</c:v>
                </c:pt>
                <c:pt idx="6">
                  <c:v>1764</c:v>
                </c:pt>
                <c:pt idx="7">
                  <c:v>1760</c:v>
                </c:pt>
                <c:pt idx="8">
                  <c:v>1786</c:v>
                </c:pt>
                <c:pt idx="9">
                  <c:v>1891</c:v>
                </c:pt>
                <c:pt idx="10">
                  <c:v>1985</c:v>
                </c:pt>
                <c:pt idx="11">
                  <c:v>1974</c:v>
                </c:pt>
                <c:pt idx="12">
                  <c:v>1898</c:v>
                </c:pt>
                <c:pt idx="13">
                  <c:v>2037</c:v>
                </c:pt>
                <c:pt idx="14">
                  <c:v>2185</c:v>
                </c:pt>
                <c:pt idx="15">
                  <c:v>2161</c:v>
                </c:pt>
                <c:pt idx="16">
                  <c:v>2072</c:v>
                </c:pt>
                <c:pt idx="17">
                  <c:v>2342</c:v>
                </c:pt>
                <c:pt idx="18">
                  <c:v>2187</c:v>
                </c:pt>
                <c:pt idx="19">
                  <c:v>2274</c:v>
                </c:pt>
                <c:pt idx="20">
                  <c:v>2324</c:v>
                </c:pt>
                <c:pt idx="21">
                  <c:v>2357</c:v>
                </c:pt>
                <c:pt idx="22">
                  <c:v>2335</c:v>
                </c:pt>
                <c:pt idx="23">
                  <c:v>2451</c:v>
                </c:pt>
                <c:pt idx="24">
                  <c:v>2418</c:v>
                </c:pt>
                <c:pt idx="25">
                  <c:v>2494</c:v>
                </c:pt>
                <c:pt idx="26">
                  <c:v>2472</c:v>
                </c:pt>
                <c:pt idx="27">
                  <c:v>2576</c:v>
                </c:pt>
                <c:pt idx="28">
                  <c:v>2508</c:v>
                </c:pt>
                <c:pt idx="29">
                  <c:v>2624</c:v>
                </c:pt>
                <c:pt idx="30">
                  <c:v>2635</c:v>
                </c:pt>
                <c:pt idx="31">
                  <c:v>2729</c:v>
                </c:pt>
                <c:pt idx="32">
                  <c:v>2713</c:v>
                </c:pt>
                <c:pt idx="33">
                  <c:v>2661</c:v>
                </c:pt>
                <c:pt idx="34">
                  <c:v>2630</c:v>
                </c:pt>
                <c:pt idx="35">
                  <c:v>2814</c:v>
                </c:pt>
                <c:pt idx="36">
                  <c:v>2752</c:v>
                </c:pt>
                <c:pt idx="37">
                  <c:v>2887</c:v>
                </c:pt>
                <c:pt idx="38">
                  <c:v>2802</c:v>
                </c:pt>
                <c:pt idx="39">
                  <c:v>2870</c:v>
                </c:pt>
                <c:pt idx="40">
                  <c:v>2990</c:v>
                </c:pt>
                <c:pt idx="41">
                  <c:v>3011</c:v>
                </c:pt>
                <c:pt idx="42">
                  <c:v>2987</c:v>
                </c:pt>
                <c:pt idx="43">
                  <c:v>3125</c:v>
                </c:pt>
                <c:pt idx="44">
                  <c:v>3174</c:v>
                </c:pt>
                <c:pt idx="45">
                  <c:v>3164</c:v>
                </c:pt>
                <c:pt idx="46">
                  <c:v>3158</c:v>
                </c:pt>
                <c:pt idx="47">
                  <c:v>3206</c:v>
                </c:pt>
                <c:pt idx="48">
                  <c:v>3135</c:v>
                </c:pt>
                <c:pt idx="49">
                  <c:v>3081</c:v>
                </c:pt>
                <c:pt idx="50">
                  <c:v>3114</c:v>
                </c:pt>
                <c:pt idx="51">
                  <c:v>3263</c:v>
                </c:pt>
                <c:pt idx="52">
                  <c:v>3179</c:v>
                </c:pt>
                <c:pt idx="53">
                  <c:v>3383</c:v>
                </c:pt>
                <c:pt idx="54">
                  <c:v>3357</c:v>
                </c:pt>
                <c:pt idx="55">
                  <c:v>3350</c:v>
                </c:pt>
                <c:pt idx="56">
                  <c:v>3459</c:v>
                </c:pt>
                <c:pt idx="57">
                  <c:v>3507</c:v>
                </c:pt>
                <c:pt idx="58">
                  <c:v>3533</c:v>
                </c:pt>
                <c:pt idx="59">
                  <c:v>3543</c:v>
                </c:pt>
                <c:pt idx="60">
                  <c:v>3750</c:v>
                </c:pt>
                <c:pt idx="61">
                  <c:v>3727</c:v>
                </c:pt>
                <c:pt idx="62">
                  <c:v>3650</c:v>
                </c:pt>
                <c:pt idx="63">
                  <c:v>0</c:v>
                </c:pt>
                <c:pt idx="64">
                  <c:v>0</c:v>
                </c:pt>
                <c:pt idx="65">
                  <c:v>3932</c:v>
                </c:pt>
                <c:pt idx="66">
                  <c:v>4065</c:v>
                </c:pt>
                <c:pt idx="67">
                  <c:v>4144</c:v>
                </c:pt>
                <c:pt idx="68">
                  <c:v>4326</c:v>
                </c:pt>
                <c:pt idx="69">
                  <c:v>4347</c:v>
                </c:pt>
                <c:pt idx="70">
                  <c:v>4268</c:v>
                </c:pt>
                <c:pt idx="71">
                  <c:v>4334</c:v>
                </c:pt>
                <c:pt idx="72">
                  <c:v>4542</c:v>
                </c:pt>
                <c:pt idx="73">
                  <c:v>4718</c:v>
                </c:pt>
                <c:pt idx="74">
                  <c:v>4681</c:v>
                </c:pt>
                <c:pt idx="75">
                  <c:v>4679</c:v>
                </c:pt>
                <c:pt idx="76">
                  <c:v>4956</c:v>
                </c:pt>
                <c:pt idx="77">
                  <c:v>4978</c:v>
                </c:pt>
                <c:pt idx="78">
                  <c:v>4925</c:v>
                </c:pt>
                <c:pt idx="79">
                  <c:v>5085</c:v>
                </c:pt>
                <c:pt idx="80">
                  <c:v>5284</c:v>
                </c:pt>
                <c:pt idx="81">
                  <c:v>5440</c:v>
                </c:pt>
                <c:pt idx="82">
                  <c:v>5360</c:v>
                </c:pt>
                <c:pt idx="83">
                  <c:v>5614</c:v>
                </c:pt>
                <c:pt idx="84">
                  <c:v>5717</c:v>
                </c:pt>
                <c:pt idx="85">
                  <c:v>5586</c:v>
                </c:pt>
                <c:pt idx="86">
                  <c:v>5833</c:v>
                </c:pt>
                <c:pt idx="87">
                  <c:v>5863</c:v>
                </c:pt>
                <c:pt idx="88">
                  <c:v>6043</c:v>
                </c:pt>
                <c:pt idx="89">
                  <c:v>6119</c:v>
                </c:pt>
                <c:pt idx="90">
                  <c:v>6120</c:v>
                </c:pt>
                <c:pt idx="91">
                  <c:v>6352</c:v>
                </c:pt>
                <c:pt idx="92">
                  <c:v>6312</c:v>
                </c:pt>
                <c:pt idx="93">
                  <c:v>6622</c:v>
                </c:pt>
                <c:pt idx="94">
                  <c:v>6839</c:v>
                </c:pt>
                <c:pt idx="95">
                  <c:v>6780</c:v>
                </c:pt>
                <c:pt idx="96">
                  <c:v>6852</c:v>
                </c:pt>
                <c:pt idx="97">
                  <c:v>7282</c:v>
                </c:pt>
                <c:pt idx="98">
                  <c:v>7369</c:v>
                </c:pt>
                <c:pt idx="99">
                  <c:v>7344</c:v>
                </c:pt>
                <c:pt idx="100">
                  <c:v>7305</c:v>
                </c:pt>
                <c:pt idx="101">
                  <c:v>7698</c:v>
                </c:pt>
                <c:pt idx="102">
                  <c:v>7741</c:v>
                </c:pt>
                <c:pt idx="103">
                  <c:v>7964</c:v>
                </c:pt>
                <c:pt idx="104">
                  <c:v>8042</c:v>
                </c:pt>
                <c:pt idx="105">
                  <c:v>8402</c:v>
                </c:pt>
                <c:pt idx="106">
                  <c:v>8268</c:v>
                </c:pt>
                <c:pt idx="107">
                  <c:v>8513</c:v>
                </c:pt>
                <c:pt idx="108">
                  <c:v>8531</c:v>
                </c:pt>
                <c:pt idx="109">
                  <c:v>8690</c:v>
                </c:pt>
                <c:pt idx="110">
                  <c:v>8677</c:v>
                </c:pt>
                <c:pt idx="111">
                  <c:v>8994</c:v>
                </c:pt>
                <c:pt idx="112">
                  <c:v>8706</c:v>
                </c:pt>
                <c:pt idx="113">
                  <c:v>9052</c:v>
                </c:pt>
                <c:pt idx="114">
                  <c:v>9009</c:v>
                </c:pt>
                <c:pt idx="115">
                  <c:v>9103</c:v>
                </c:pt>
                <c:pt idx="116">
                  <c:v>9439</c:v>
                </c:pt>
                <c:pt idx="117">
                  <c:v>9584</c:v>
                </c:pt>
                <c:pt idx="118">
                  <c:v>9749</c:v>
                </c:pt>
                <c:pt idx="119">
                  <c:v>9689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4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After k days of silence, % who come back within the next 30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within 30 days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1d</c:v>
                  </c:pt>
                  <c:pt idx="1">
                    <c:v>2d</c:v>
                  </c:pt>
                  <c:pt idx="2">
                    <c:v>3d</c:v>
                  </c:pt>
                  <c:pt idx="3">
                    <c:v>5d</c:v>
                  </c:pt>
                  <c:pt idx="4">
                    <c:v>7d</c:v>
                  </c:pt>
                  <c:pt idx="5">
                    <c:v>10d</c:v>
                  </c:pt>
                  <c:pt idx="6">
                    <c:v>14d</c:v>
                  </c:pt>
                  <c:pt idx="7">
                    <c:v>21d</c:v>
                  </c:pt>
                  <c:pt idx="8">
                    <c:v>28d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0.945</c:v>
                </c:pt>
                <c:pt idx="1">
                  <c:v>0.938</c:v>
                </c:pt>
                <c:pt idx="2">
                  <c:v>0.93</c:v>
                </c:pt>
                <c:pt idx="3">
                  <c:v>0.915</c:v>
                </c:pt>
                <c:pt idx="4">
                  <c:v>0.9009999999999999</c:v>
                </c:pt>
                <c:pt idx="5">
                  <c:v>0.878</c:v>
                </c:pt>
                <c:pt idx="6">
                  <c:v>0.846</c:v>
                </c:pt>
                <c:pt idx="7">
                  <c:v>0.7759999999999999</c:v>
                </c:pt>
                <c:pt idx="8">
                  <c:v>0.6809999999999999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answer first. Revenue is up ~2.9x; ARPDAU is down 16% only because the player mix shifted toward Tier 4. Every tier individually is flat or better. The budget question is Tier-4 paid_video payback, which needs CPI.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chart. Left: each tier went up between Jan and Apr, total went down 16%. Right: why, the Tier 4 share of play went from 18% to 45%. Tier 4 players are worth about a third of Tier 1 players per day, so adding lots of them pulls the average down even though nobody is spending less. Leadership asked what broke: nothing did. The metric is a ratio sensitive to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for 2a. Do not try to fix ARPDAU. Replace the KPI, and take the real decision to UA with the missing input named: CPI by channel and tier. I give the break-even CPI so the decision is ready as soon as UA supplies costs. Caveats: 90-day window, ad revenue missing (raises the break-even for all tiers, probably more for Tier 4 where ad share is higher), Jan cohorts may differ from April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traps. The naive comparison is confounded by country tier, and paid_video also skews to March, when installs spiked. After standardising to the same tier mix, the revenue gap is small and not significant. D7 is borderline. Organic is not a clean control either: it is the unattributed bucket, and linked or reinstalled devices can inherit a different channel. To call a difference real I would want a geo-holdout or incrementality test plus CPI.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top-risk decile churns at 47% vs 18% overall. The strongest predictors: tenure (older accounts lapse more), level relative to tenure (progressing players stay), 28-day playtime and ad engagement. The threshold is an economics decision. I show the rule and a worked example; live-ops supplies cost and value. Because most lapsed players return on their own, the real value is in uplift, which only a holdout can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 in one slide. Retention not degrading means the new paid_video players are not worse at sticking, consistent with slide 4. Monetisation is slow: many first purchases come after a month, which is why 30-day value understates LTV. The ad cap question: almost nobody hits it, and the randomly assigned cap of 8 does not change behaviour, so the cap is not the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picked the issues that changed numbers. The timezone one is the subtle one: the ad table looks fine on its own, but its day boundaries are wrong. The sale purchases without activity are unexplained. My guess is an off-app store or a timestamp that is attributed to the sale window. I would ask the data engineering team before using sale timing for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READOUT  ·  PLAYER TELEMETRY 1 JAN – 30 APR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nearly tripled. ARPDAU fell because of who we added, not because monetisation broke.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3200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2.9×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revenue, last 30 days vs first 30 ($29.2k → $83.6k)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3063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3200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ARPDAU ($0.355 → $0.297)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3063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3200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 to +8%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ARPDAU inside every country tier over the same period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0536" y="3063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2B4A"/>
          </a:solidFill>
          <a:ln w="12700">
            <a:solidFill>
              <a:srgbClr val="1E2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61704" y="3200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 → 45%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061704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share of active player-days, driven by a paid_video push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this feeds: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cheap Tier-4 installs we are now buying pay back. That turns on cost per install, which is not in this data, so the break-even CPI is given instead.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Kevin  ·  Analytics Intern take-home  ·  Readout = slides 1–8, appendix follows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2(A) · ARPDAU IS "DOWN 16%"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tier earns the same or more per player. The average fell because Tier 4 grew from 18% to 45% of play.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583680" y="182880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692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of the −$0.058 change: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shift −$0.076, within-tier +$0.018.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 effect is bigger than the whole drop;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tiers, players monetise slightly better than in January. Same answer splitting by tier × platform × player age (mix = 117% of the drop).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ARPDAU = gross IAP revenue (deduplicated, refunds excluded) / active player-days. Symmetric (Shapley) mix/rate decomposition over tiers. Source: 2a_arpdau_mix.sql, task2_arpdau.py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2(A) · WHAT THE BUSINESS SHOULD 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steering by blended ARPDAU. The real question is whether Tier-4 installs cost less than they return.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32588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rev / install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CPI*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Jan → Apr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3,254 → 3,027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2,475 → 2,322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2,116 → 3,991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1,733 → 15,707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92240" y="365760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ARPDAU per tier (or at a fixed tier mix)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total revenue. A blended ratio will keep "falling" as long as we grow in cheaper markets.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CPI for paid_video by tier.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Tier-4 installs are worth ~$1.64 over 90 days after store fees (plus ad revenue we cannot see). If they cost more, cut them. If less, they are profitable growth.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fixed budget,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Tier-1 install returns 3.1× a Tier-4 install, so shifting spend to Tier 1 wins only if its CPI is less than 3.1× Tier 4's.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*Break-even CPI = 90-day gross revenue × 0.70 (≈30% app-store fee), ignoring ad revenue and revenue after day 90 (day-90 ≈ 2.1× day-30, still rising). Installs 1–30 Jan, fully observed to day 90.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ACQUISITION CHANNELS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paid_video looks 38% worse on revenue, but that is mostly because it buys Tier 4. Like for like, channels are close.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43000"/>
                <a:gridCol w="731520"/>
                <a:gridCol w="118872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(same tier mix)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vs organic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30d rev/install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−$0.49 to +$0.16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paid_social vs organic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30d rev/install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−$0.43 to +$0.08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vs organic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 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−1.3pp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−2.6pp to −0.1pp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borderline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paid_social vs organic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 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−1.7pp to +0.8pp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943600" y="361188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revenue gap (−38%) is tier mix. paid_video is 65.1% Tier 4 vs 18.4% for organic. Like for like it shrinks to −8% and is not significant.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but small: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paid_video D7 retention is about 1.3pp lower within tiers. That is just significant (bootstrap p≈0.03, regression p≈0.04) and is worth about 5% of engagement, not a budget lever.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to resolve: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paid_social vs organic. This sample can only detect gaps of about $0.38 per install (18%) or 1.6pp of D7.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differences are small next to likely CPI differences, so move budget on revenue-per-install ÷ CPI by tier, not on channel "quality".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1 Jan – 31 Mar (n=36,177, full 30 days observed). Same tier mix = tier-standardised means; 2,000-sample stratified bootstrap. Regression with tier, platform and month gives the same result.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· WHO IS ABOUT TO STOP PLAYING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model finds lapsing players at 2.6× the random rate, but half of the offers in its best group would still go to players who stay.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00584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if P(churn) 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actives offered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Churners reached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309360" y="342900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active in the last 7 days. Churn = no play in the next 14 days (base rate 18%). Trained on Jan–Mar snapshots and tested on April ones, never on shuffled rows.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rule: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when P(churn) × uplift × value of a retained player &gt; offer cost. For example, a $0.50 offer with 20% uplift and a $10 player gives p ≥ 0.25: target 29% of actives and reach 57% of churners.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caveat: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players silent for 14 days come back within 30 days anyway. Uplift is unknown, so launch with a randomised holdout.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8 behavioural + 3 categorical features; test AUC 0.75 (train 0.75, stable across all 3 test weeks); PR-AUC 0.38 vs 0.18 random. Weakest on payers and veteran players (AUC ≈ 0.71).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HEALTH · 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Underneath the growth, the base is steady: retention is flat across cohorts, a few payers carry revenue, and the ad cap is not binding.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182880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56248" y="19751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flat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556248" y="237744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48%, D7 26%, D30 14% in every cohort, even with 3× the installs. Players play in bursts: 62% are still active in week 5.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098280" y="182880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99448" y="19751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9299448" y="237744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of payers = 48% of revenue. Top 1% of all players = 39%. Only 18% of Jan–Mar installs have paid, and a third of payers first pay after day 30.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40233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56248" y="416966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cap is not binding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6556248" y="4572000"/>
            <a:ext cx="21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1.3% of ad-days hit a cap of 5. Players given a cap of 8 watch the same amount. Raising the cap will not add views; placement will.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098280" y="40233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99448" y="416966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pays 2× Android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9299448" y="4572000"/>
            <a:ext cx="21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ARPDAU $0.50 vs $0.25. Payer share 2.8% vs 1.4% of active days. Android is 68% of play.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= active on exactly day N after install. Concentration ranks payers only (11,000) and all active players (76,058) separately. Detail and SQL in appendix A1–A4.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TRUSTING ANY NUMBER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data problems would each have changed a headline number. Each is fixed in the SQL, not by hand.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743200"/>
                <a:gridCol w="26791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 found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would have broken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ad_view clock is 8h ahead of all other 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events run 14:00–07:59 vs 06:00–23:59 elsewhere; after −8h, 100% of ad-days match an active day (49% before)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Cap-hit rate, and daily ad counts split across the wrong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−8h before any date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 events on 5–6 Mar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ad series drops to 0 while DAU is 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ad trend; ad features in the churn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cap analysis; flagged on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 duplicated purchase 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ID, player and pack, logged 3 min – 18 h apart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+$1,816 phantom revenue and inflated repeat-purchase 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first occurrence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 refunds as negative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usd_amount; 98% match an earlier purchase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counts and conversion if refunds count as purchases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excludes them; net (−$3,250) shown alongside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3,211 linked devices (same person)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original_device_id; 2,315 player-days active on 2 devices at once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 double count; a reinstall counted as a new install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 to one player_id; earliest install defines cohort and 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2,434 sale purchases ($35.5k) on days with no 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are sale_flag=1; 114 are before install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share above 100% of actives; sale 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kept; excluded from payer-share numerator; flagged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noted: 35% of installs have no activity on install day (install ≠ first open); 228 currency_spend rows from 36 devices with impossible values (not used). Full list: appendix A5.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do, what I need, and what I am not sure of.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29968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9933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now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blended ARPDAU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health KPI. Track ARPDAU per tier and total revenue.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ad cap alone;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placements instead. The cap does not bind.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churn offers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 ≥ 0.25 with a 20% random holdout to measure real uplift.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29968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9933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from other teams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060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by channel × tier (UA):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Tier-4 paid_video stays. Break-even is about $1.64 per install.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 per user (Finance):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every break-even, probably most for Tier 4.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of sale purchases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activity (data engineering).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02996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19933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060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beyond day 90: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rising at 90 days (2.1× day 30), so break-evens are conservative.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quality: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under ~18% of revenue per install are invisible at this sample size.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uplift: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14-day lapsers return unprompted, so many offers may be wasted.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for time: optional 4b (90-day value of a new install). Question 2(b) on sales was not chosen. What I would do with another week: appendix A12.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3832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A1–A4 Task 1 metrics and SQL · A5 Data quality · A6–A7 Deep-dive 2(a) · A8 Channels · A9–A11 Churn model · A12 Dead ends and next week · A13 How to run the code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1(A) DAILY HEALTH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active players and ARPDAU by platform (weekly averages shown; daily file in outputs/1a_daily_health.csv)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172200" y="160020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6766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1097280"/>
                <a:gridCol w="82296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player-days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of refunds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ARPDAU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share of active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209,689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$103,948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$102,399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455,426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$113,646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$111,945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665,115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$217,593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$214,343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7543800" y="45262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Numerator/denominator: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from player_day, collapsed to one row per person. Revenue from deduplicated, non-refund purchases.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share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only purchasers who are also active that day, so it cannot exceed 100%.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of daily revenue equals the purchase_valid total ($217,593.22).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sql/1a_daily_health.sql (and sql/00_setup_clean.sql for the cleaned views).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1(B) RETENTION COHORT GRID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each install-week cohort active on day N (blank = not yet fully observed)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822960"/>
                <a:gridCol w="82296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week (Mon)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2025-12-29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2026-01-19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2026-01-26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2026-02-02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2026-02-09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2026-02-16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2026-02-23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406640" y="1600200"/>
            <a:ext cx="4251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rule: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is shown only if every player in the cohort has reached day N by 30 Apr. A partly observed cell would include only the earliest installers, and a 0 would claim churn we have not had time to see.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only 2026 installs (earlier installs have no early-life data). Linked devices are merged; a player's cohort is their first install.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is only ~65%: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install_date is not first open. 35% of installs first play 1–20+ days later (DQ note).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play: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exact-day D30 is 14%, but 62% of a cohort is active at some point in week 5 (sql/1b_weekly_retention.sql). Both are shown because they answer different questions.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sql/1b_retention.sql, sql/1b_weekly_retention.sql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1(C) SPENDER BEHAVIOUR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Concentration, time to first purchase, and repeat-purchase gap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ranked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active players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76,058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48640" y="260604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355080" y="1600200"/>
            <a:ext cx="53035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payers only is the "whale" view (top 10% = 48%). Ranking everyone mostly measures conversion, because 86% of players spend $0. Both are defensible; they answer different questions.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purchase: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Jan–Mar installs (≥30 days observed), 81.7% have not paid by 30 Apr. Only 30% of payers pay in week 1, and 33% after day 30, so 30-day LTV understates value. 66 players "paid before install" (DQ).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gap (LAG window):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2,509 repeat buyers, 4,078 repeat purchases. Median gap 15.3 days (IQR 6.4–32.9). That lines up with the ~15-day sale cycle, a lead for question 2(b).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sql/1c_spenders.sql. Valid purchases = deduplicated, refunds excluded; linked devices merged.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1(D) REWARDED ADS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Cap-hit rate by cap value, and daily completed views (outage on 5–6 Mar)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5836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88720"/>
                <a:gridCol w="11887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player-days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hit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interactions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294,861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98,088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392,949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406640" y="1600200"/>
            <a:ext cx="4251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looks off: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 events on 5–6 Mar while DAU is normal. That is a logging outage, not behaviour. Action: exclude those days from rates, do not interpolate them into ad revenue, and raise it with data engineering (ad-network billing for those days would confirm).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ad_view timestamps are 8h ahead. Without the shift, "daily" caps appear to be exceeded and half of ad-days fall on days with no activity.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is not binding: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1.27% of cap-5 days hit the cap. Cap-8 days have an identical distribution up to 5 views (1.27% reach 5 in both), and caps vary by day for the same player, so this is close to a natural experiment.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product team: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the cap will not add views or ad revenue. Engagement is about 0.8 completed views per DAU, so placement and reward value are the levers.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sql/1d_ads.sql. A player-day hits the cap when max(ad_daily_count) ≥ ad_daily_cap; the counter includes started and abandoned interactions and resets at local midnight.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LOG (FULL)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found, its size, and how it is handled in sql/00_setup_clean.sql and the task scripts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3291840"/>
                <a:gridCol w="4142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ad_view timestamps +8h vs other tables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647,623 ad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−8h; verified 100% alignment with active days and counter reset at local midnight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logging outage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 Mar local (≈07:00 5 Mar – 14:00 7 Mar raw)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cap rates; shaded on chart; noted for churn ad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purchase_id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 rows, $1,815.82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ROW_NUMBER() per purchase_id, keep earliest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 as negative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 rows, −$3,249.74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gross; net reported alongside; not counted as purchases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devices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3,211 devices → 77,085 people from 80,295 devices; 112 chains of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player_id = root of chain; activity collapsed per person-day; attributes from earliest install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"original" installed later than the linked 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1,584 of 3,211 links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of link not trusted; earliest install used for cohort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purchases with no activity that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2,434 purchases, $35.5k (41% of sale purchases); 114 before install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in revenue; excluded from payer-share numerator; sale timing treated as unreliable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install_date ≠ first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 of 2026 installs not active on day 0; 1,014 never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(install is the cohort event); called out in retention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currency_spend impossible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 rows, 36 devices, up to 75.8M vs balances &lt; 17k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 for values; only event counts used as a churn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Pre-window installs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16,000 devices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cohort, first-purchase and channel analyses (left-censored)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2(A) DECOMPOSITION DETAIL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mix explanation holds under every segmentation that includes tier. Player age alone does not explain it.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914400"/>
                <a:gridCol w="914400"/>
                <a:gridCol w="100584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ARPDAU Jan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ARPDAU Apr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% of drop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−$0.0576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−$0.0756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−$0.0576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−$0.0574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x 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−$0.0576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−$0.0686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x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−$0.0576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−$0.0749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x platform x 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−$0.0576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−$0.0677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7315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  <a:gridCol w="1188720"/>
                <a:gridCol w="11887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Player-days Jan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Player-days Apr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ARPDAU Jan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ARPDAU Apr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59,093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44,943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126,353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82,249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281,397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138160" y="1600200"/>
            <a:ext cx="3520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 alone "fails":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by player age shows within-age declines, but that is the same tier shift seen from another angle: new Tier-4 players fill the young-age bands.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growth came from: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installs/month in Tier 4 rose 1.7k → 15.7k and paid_video 1.4k → 17.3k. Tier 1–2 installs were flat.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note: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level only, as advised. Countries are too thin for stable ARPDAU.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Tempting wrong answer: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"monetisation broke". Nothing that looks at a fixed kind of player got worse.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sql/2a_arpdau_mix.sql. Python: task2_arpdau.py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2(A) VALUE PER INSTALL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 install by tier. 30-day uses Jan–Mar installs; 60/90-day uses 1–30 Jan installs (fully observed).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(Jan–Mar)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30d rev/install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paying by d30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per payer (30d)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1005840"/>
                <a:gridCol w="1005840"/>
                <a:gridCol w="11887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(Jan cohort)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d90 / d30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CPI (net)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349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converts less (7% vs 18% by day 30), but its payers spend almost as much ($15.9 vs $19.0). The gap is conversion, not wallet.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excludes ad revenue (not in the data), which pushes every break-even up. It also ignores revenue after day 90, still growing about 2× from d30 to d90.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cohorts are mostly organic/paid_social. April Tier-4 paid_video installs may be worth less; recheck at d90 in July.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METHOD AND FULL RESULTS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Metrics: D7 retention = active on install_date+7. Revenue = gross IAP in days 0–29. Payer = ≥1 purchase in days 0–29.</a:t>
            </a:r>
            <a:endParaRPr lang="en-US" sz="1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5895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920240"/>
                <a:gridCol w="1097280"/>
                <a:gridCol w="822960"/>
                <a:gridCol w="1554480"/>
                <a:gridCol w="73152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-1.86pp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-2.94 … -0.75pp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tier-adjusted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-1.34pp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-2.58 … -0.13pp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paid_social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-0.80pp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-1.95 … 0.28pp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paid_social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tier-adjusted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-0.46pp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-1.66 … 0.80pp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paid_social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-1.06pp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-2.18 … 0.00pp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paid_social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tier-adjusted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-0.88pp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-2.13 … 0.40pp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−$0.931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−$1.19 … −$0.66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-37.6%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tier-adjusted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−$0.165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−$0.49 … $0.16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paid_social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−$0.231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−$0.50 … $0.05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paid_social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tier-adjusted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−$0.177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−$0.43 … $0.08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paid_social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−$0.700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−$0.96 … −$0.44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paid_social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tier-adjusted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−$0.29 … $0.31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-4.34pp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-5.08 … -3.53pp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tier-adjusted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-0.69pp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-1.62 … 0.20pp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paid_social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-0.93 … 0.84pp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paid_social - 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tier-adjusted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-0.93 … 0.81pp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paid_social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-4.29pp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-5.11 … -3.48pp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 - paid_social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tier-adjusted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-0.64pp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-1.61 … 0.33pp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554480"/>
          <a:ext cx="33375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94360"/>
                <a:gridCol w="457200"/>
                <a:gridCol w="411480"/>
                <a:gridCol w="502920"/>
                <a:gridCol w="411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Tier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30d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paid_social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paid_video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321040" y="2788920"/>
            <a:ext cx="3337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Tier-adjusted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direct standardisation to the pooled tier mix. The CI comes from a 2,000-sample bootstrap resampled within tier strata. Revenue is heavy-tailed (sd $10.5), so no normal approximation.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(D7) and robust OLS (rev) with channel + tier + platform + install month give the same picture (paid_video D7 p=0.04; rev n.s.).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call a gap real I would need: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 or time-sliced holdout (organic is an unattributed bucket, not a control); consistent attribution for reinstalls and linked devices; and 90-day value, since a third of payers convert after day 30. Three comparisons × 3 metrics also raises the chance of one false positive.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sql/3_channel_cohort.sql. Python: task3_channels.py. Bootstrap seed 42.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SETUP AND CHURN DEFINITION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"no play in the next 14 days", for whom, and as of when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126480" y="1600200"/>
            <a:ext cx="5532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snapshot date s (weekly, 29 Jan – 16 Apr), will a currently active player have zero active days in s+1…s+14?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with ≥1 active day in s−6…s. Excluded: snapshots after 16 Apr (the 14-day label cannot be seen by 30 Apr), and players inactive the whole prior week (already lapsed, a different offer).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14 days: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the live-ops ask. A 14-day silence is unusual (only ~15% of gaps between sessions are that long), and it is long enough to lose a sale cycle. It is a lapse, not permanent churn: 85% return within a month. That is why uplift, not just prediction, decides offer value.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(known at s):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play, active days in 7d, trend vs prior 3 weeks, log 28d playtime, level, log tenure, ever paid, log ad views 7d, tier, platform, channel.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snapshots 29 Jan – 19 Mar (labels end 2 Apr), test on 2/9/16 Apr. 26 Mar is skipped as a gap so no training label overlaps the test period.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sql/4a_return_curve.sql, sql/4b_churn_features.sql. Base churn rate 18–20% per snapshot. Same player can appear in several snapshots, which is realistic for weekly scoring.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RESULTS AND WHERE IT FAILS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Coefficients per standard deviation with odds ratios, and performance by segment on the April test set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572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100584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 / 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log_age_days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log_playtime_28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log_ads_completed_7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trend_active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active_days_7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acquisition_channel_paid_social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country_tier_3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country_tier_4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acquisition_channel_paid_video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country_tier_2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554480"/>
          <a:ext cx="3291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640080"/>
                <a:gridCol w="54864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new_player=0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75,805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new_player=1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payer_ever=0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88,163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payer_ever=1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country_tier=1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country_tier=4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platform=Android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72,385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platform=iOS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30,478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915400" y="1554480"/>
            <a:ext cx="2743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0.747 test vs 0.752 train (no overfit), PR-AUC 0.38 vs 0.18 base. Calibrated: predicted and actual match within 5pp in every decile.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is the strongest signal (old accounts lapse more; new players churn only 6%). At a given tenure, a higher level and more playtime and ad views mean lower risk.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where: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segment the ranking weakens (AUC ≈ 0.70–0.71 for veterans, new players and payers). A lot of the power comes from separating those groups. Precision tops out near 50%.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15-feature version scored 0.754 but its coefficients flip sign from collinearity. Not worth 0.007 AUC.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task4_churn.py (scikit-learn LogisticRegression, standardised numerics, one-hot categoricals).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THRESHOLDS AND OFFER ECONOMICS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when P(churn) × uplift × V &gt; cost, which gives threshold = cost ÷ (uplift × V). Numbers per the April test set.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005840"/>
                <a:gridCol w="9144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targeted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Wasted offers / 1,000 actives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66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68680"/>
                <a:gridCol w="731520"/>
                <a:gridCol w="868680"/>
                <a:gridCol w="96012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targeted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48056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not shown in the right table target nobody: the offer costs more than its expected value even for the riskiest player. For example, a $1 offer is never worth it for a $5 player at 20% uplift.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V should be the incremental revenue from 14 days kept, not LTV. That is small for non-payers, so in practice only high-value (payer or Tier 1) segments justify paid offers. Cheap non-monetary nudges (push, free currency) work for everyone.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is the unknown that matters most. With 85% natural return, measure it with a randomised holdout before scaling.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outputs/4_thresholds.csv, outputs/4_economics.csv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ENDS, WHAT I DROPPED, AND WHAT I WOULD DO NEXT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followed the brief's order: 1, 2, 5, then 3, then 4. Question 4b was dropped.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746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ends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148840"/>
            <a:ext cx="31638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age as the driver of the ARPDAU drop: within-age ARPDAU falls, but that is the tier shift in disguise (new Tier-4 players fill the young bands).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ARPDAU: too noisy, as the brief warned. Dropped for tier.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Exact-day retention as the churn signal: misleading for bursty players. Switched to a 7-day activity window.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15-feature churn model: +0.007 AUC, but uninterpretable.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746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/ not done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148840"/>
            <a:ext cx="31638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(90-day value of a new install): dropped. Only Jan installs have 90 days of labels, which is too small and not representative of the April paid_video mix.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2(b) sales: not chosen, but there are leads. Purchases dip in the ~4 days before each sale, and the median repeat gap (15 days) matches the sale cycle. That is consistent with Finance's "waiting" view.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93592" cy="3840480"/>
          </a:xfrm>
          <a:prstGeom prst="roundRect">
            <a:avLst>
              <a:gd name="adj" fmla="val 2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7888" y="1746504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another week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148840"/>
            <a:ext cx="319125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CPI and ad revenue, then compute ROAS by channel × tier.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ARPDAU at a fixed Jan tier mix every week.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an event study of purchases around each sale and pre-sale dip, then propose a sale-frequency A/B by region.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Churn: a holdout pilot, uplift modelling, and a survival model instead of a fixed 14-day label.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with data engineering the sale purchases without activity and the linked-device direction.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47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CODE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3.11 + DuckDB (SQL straight on the CSVs). Everything regenerates from csv/ in about 2 minutes.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597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sql/00_setup_clean.sql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views, device→player map, cleaned activity, purchases (dedup, refunds), ad_view shifted −8h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sql/1a…1d_*.sql + task1_run.py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 metrics → outputs/1*.csv, charts/1*.png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sql/2a_arpdau_mix.sql + task2_arpdau.py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and age mix decomposition, value per install, LTV by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sql/3_channel_cohort.sql + task3_channels.py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cohort table, naive and tier-adjusted differences, bootstrap CIs, regression, MDE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sql/4a,4b_*.sql + task4_churn.py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curve, snapshot feature table, logistic model, thresholds, economics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deck_data.py + deck/build_deck.js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outputs into deck/data.json and builds this deck (every number is traceable)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run_all.sh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-r requirements.txt; runs everything in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the five CSVs in ./csv/ (or edit the path in sql/00_setup_clean.sql), then run  bash run_all.sh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readout: revenue, ARPDAU and players, Jan-Apr 2026</dc:title>
  <dc:subject>PptxGenJS Presentation</dc:subject>
  <dc:creator>PptxGenJS</dc:creator>
  <cp:lastModifiedBy>PptxGenJS</cp:lastModifiedBy>
  <cp:revision>1</cp:revision>
  <dcterms:created xsi:type="dcterms:W3CDTF">2026-09-28T04:14:27Z</dcterms:created>
  <dcterms:modified xsi:type="dcterms:W3CDTF">2026-09-28T04:14:27Z</dcterms:modified>
</cp:coreProperties>
</file>